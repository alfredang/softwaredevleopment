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8869680" y="-1463040"/>
            <a:ext cx="4937760" cy="4937760"/>
          </a:xfrm>
          <a:prstGeom prst="ellipse">
            <a:avLst/>
          </a:prstGeom>
          <a:solidFill>
            <a:srgbClr val="065A82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0" y="3108960"/>
            <a:ext cx="3657600" cy="36576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17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7FB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PORTFOLIO PRESENTATION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Customer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 Agent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14400" y="3703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(RAG)  ·  n8n Workflow Automation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4526280"/>
            <a:ext cx="10058400" cy="640080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5262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 →  Web Interface  →  n8n Workflow  →  RAG Memory  →  AI Response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C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 ·  Accuracy  ·  Automation Efficiency  ·  Security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17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17320"/>
            <a:ext cx="1216152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10896"/>
            <a:ext cx="822960" cy="82296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484632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31089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BDD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SCENARIO  ·  SOLUTION OVERVIEW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554480" y="603504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Data Flow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48640" y="16916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customer support agent accepts customer queries, retrieves accurate answers from a FAQ dataset using RAG, and responds through an automated n8n workflow — with error handling, fallback responses, and human escalation built in.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2788920"/>
            <a:ext cx="1993392" cy="141732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8368" y="28620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FD3E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" y="320040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40080" y="365760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a support query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523744" y="3108960"/>
            <a:ext cx="329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2834640" y="2788920"/>
            <a:ext cx="1993392" cy="141732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944368" y="28620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FD3E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926080" y="320040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Interface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2926080" y="365760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input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809744" y="3108960"/>
            <a:ext cx="329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5120640" y="2788920"/>
            <a:ext cx="1993392" cy="141732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230368" y="28620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FD3E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212080" y="320040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n8n Workflow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5212080" y="365760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processing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095744" y="3108960"/>
            <a:ext cx="329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7406640" y="2788920"/>
            <a:ext cx="1993392" cy="141732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516368" y="28620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FD3E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498080" y="320040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Memory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7498080" y="365760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FAQ context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9381744" y="3108960"/>
            <a:ext cx="329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800" dirty="0"/>
          </a:p>
        </p:txBody>
      </p:sp>
      <p:sp>
        <p:nvSpPr>
          <p:cNvPr id="29" name="Shape 26"/>
          <p:cNvSpPr/>
          <p:nvPr/>
        </p:nvSpPr>
        <p:spPr>
          <a:xfrm>
            <a:off x="9692640" y="2788920"/>
            <a:ext cx="1993392" cy="141732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9802368" y="28620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FD3E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784080" y="320040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Response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9784080" y="365760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compliant reply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548640" y="4617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portfolio answers five questions demonstrating how the design ensures: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548640" y="507492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E8F1F5"/>
          </a:solidFill>
          <a:ln w="12700">
            <a:solidFill>
              <a:srgbClr val="C5DEE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48640" y="5074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Reliability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3447288" y="507492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E8F1F5"/>
          </a:solidFill>
          <a:ln w="12700">
            <a:solidFill>
              <a:srgbClr val="C5DEE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447288" y="5074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6345936" y="507492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E8F1F5"/>
          </a:solidFill>
          <a:ln w="12700">
            <a:solidFill>
              <a:srgbClr val="C5DEE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345936" y="5074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 Efficiency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9244584" y="507492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E8F1F5"/>
          </a:solidFill>
          <a:ln w="12700">
            <a:solidFill>
              <a:srgbClr val="C5DEE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244584" y="5074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Customer Support Agent  |  Portfolio Presentation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17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17320"/>
            <a:ext cx="1216152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10896"/>
            <a:ext cx="822960" cy="82296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484632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31089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BDD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 ·  ACTIVITY 1 — PROMPTS &amp; MODEL SETTINGS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554480" y="603504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Prompt Design &amp; Model Configuration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48640" y="16642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prompt was structured to ensure accurate, consistent, reliable responses — grounded in the FAQ dataset with controlled format, tone, and model settings.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542032"/>
            <a:ext cx="5349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2542032"/>
            <a:ext cx="82296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804672" y="26883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structure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04672" y="3072384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a clear role: "FAQ-based customer support assistant"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instruction to answer ONLY from retrieved FAQ context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order: read query → use retrieved context → answer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63640" y="2542032"/>
            <a:ext cx="5349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63640" y="2542032"/>
            <a:ext cx="82296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6519672" y="26883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Grounding on the FAQ dataset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519672" y="3072384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the answer is not in the provided context, say so"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outside/assumed knowledge — reduces hallucination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Cites/uses only the retrieved chunks as evidence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4224528"/>
            <a:ext cx="5349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8640" y="4224528"/>
            <a:ext cx="82296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/>
          <p:nvPr/>
        </p:nvSpPr>
        <p:spPr>
          <a:xfrm>
            <a:off x="804672" y="43708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Controlled format &amp; tone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804672" y="47548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Polite, professional, concise customer-service tone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structured output (clear answer + next step)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+ escalation wording baked into the prompt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263640" y="4224528"/>
            <a:ext cx="5349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63640" y="4224528"/>
            <a:ext cx="82296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0"/>
          <p:cNvSpPr/>
          <p:nvPr/>
        </p:nvSpPr>
        <p:spPr>
          <a:xfrm>
            <a:off x="6519672" y="43708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settings for performance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519672" y="47548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temperature (~0.2) for consistent, factual replies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max tokens; top-p tuned for determinism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prompt → lower latency and cost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48640" y="594360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E8F1F5"/>
          </a:solidFill>
          <a:ln w="12700">
            <a:solidFill>
              <a:srgbClr val="C5DEE8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6035040"/>
            <a:ext cx="274320" cy="27432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097280" y="59436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AI Agent node — System Prompt + Model parameters (temperature, model)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Customer Support Agent  |  Portfolio Presentation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17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17320"/>
            <a:ext cx="1216152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10896"/>
            <a:ext cx="822960" cy="82296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484632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31089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BDD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 ·  ACTIVITY 2 — RETRIEVAL-AUGMENTED GENERATION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554480" y="603504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RAG to Retrieve Accurate FAQ Answers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48640" y="16642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RAG retrieves relevant answers from the FAQ dataset, enhances response accuracy, and why retrieval-based responses are more reliable than the model's pre-trained knowledge alone.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542032"/>
            <a:ext cx="5349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2542032"/>
            <a:ext cx="82296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804672" y="26883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retrieval works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04672" y="3072384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documents embedded into a vector store (Supabase)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 embedded and matched by semantic similarity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Top-matching FAQ chunks returned as grounding context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63640" y="2542032"/>
            <a:ext cx="5349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63640" y="2542032"/>
            <a:ext cx="82296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6519672" y="26883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Enhancing accuracy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519672" y="3072384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answers from current, organisation-specific FAQs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injected into the prompt before generation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stay on-topic and verifiable against the source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4224528"/>
            <a:ext cx="5349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8640" y="4224528"/>
            <a:ext cx="82296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/>
          <p:nvPr/>
        </p:nvSpPr>
        <p:spPr>
          <a:xfrm>
            <a:off x="804672" y="43708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RAG beats pre-trained-only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804672" y="47548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knowledge is static and can be outdated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content is updatable without retraining the model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Greatly reduces hallucination and fabricated facts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263640" y="4224528"/>
            <a:ext cx="5349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63640" y="4224528"/>
            <a:ext cx="82296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0"/>
          <p:cNvSpPr/>
          <p:nvPr/>
        </p:nvSpPr>
        <p:spPr>
          <a:xfrm>
            <a:off x="6519672" y="43708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Reliability benefits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519672" y="47548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traceable back to a known FAQ entry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answers across users for the same question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audit, correct, and expand the knowledge base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48640" y="594360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E8F1F5"/>
          </a:solidFill>
          <a:ln w="12700">
            <a:solidFill>
              <a:srgbClr val="C5DEE8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6035040"/>
            <a:ext cx="274320" cy="27432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097280" y="59436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Supabase Vector Store tool + Embeddings connected to the AI Agent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Customer Support Agent  |  Portfolio Presentation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17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17320"/>
            <a:ext cx="1216152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10896"/>
            <a:ext cx="822960" cy="82296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484632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31089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BDD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 ·  ACTIVITY 3 — ISSUES &amp; ESCALATION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554480" y="603504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Detecting, Communicating &amp; Escalating Problems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48640" y="16642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issues that may occur in the system, and how the design detects, communicates, and escalates them appropriately — with fallback responses and human escalation.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542032"/>
            <a:ext cx="5349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2542032"/>
            <a:ext cx="82296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804672" y="26883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 of issues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04672" y="3072384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FAQ match / low similarity score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or expired API keys (auth failures)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node failures, timeouts, or rate limits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63640" y="2542032"/>
            <a:ext cx="5349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63640" y="2542032"/>
            <a:ext cx="82296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6519672" y="26883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519672" y="3072384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threshold check on retrieved results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branches on each node + status-code checks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of failed executions in n8n for review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4224528"/>
            <a:ext cx="5349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8640" y="4224528"/>
            <a:ext cx="82296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/>
          <p:nvPr/>
        </p:nvSpPr>
        <p:spPr>
          <a:xfrm>
            <a:off x="804672" y="43708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Fallback responses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804672" y="47548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 "I couldn't find that — let me connect you" reply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safe message when no FAQ match is found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guesses; avoids misleading the customer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263640" y="4224528"/>
            <a:ext cx="5349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63640" y="4224528"/>
            <a:ext cx="82296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0"/>
          <p:cNvSpPr/>
          <p:nvPr/>
        </p:nvSpPr>
        <p:spPr>
          <a:xfrm>
            <a:off x="6519672" y="43708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 escalation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519672" y="47548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unresolved queries to a support agent / email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team (e.g. Gmail/Telegram) with conversation context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handoff so the customer is not left stranded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48640" y="594360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E8F1F5"/>
          </a:solidFill>
          <a:ln w="12700">
            <a:solidFill>
              <a:srgbClr val="C5DEE8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6035040"/>
            <a:ext cx="274320" cy="27432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097280" y="59436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IF/error branch routing to fallback message + escalation (email/Telegram) node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Customer Support Agent  |  Portfolio Presentation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17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17320"/>
            <a:ext cx="1216152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10896"/>
            <a:ext cx="822960" cy="82296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484632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31089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BDD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  ·  ACTIVITY 4 — TROUBLESHOOTING PERFORMANCE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554480" y="603504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Diagnosing Slow or Inconsistent Outputs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48640" y="16642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steps to diagnose and resolve slow responses or inconsistent outputs — using logs, API monitoring, prompt optimization, and workflow testing to find the root cause.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542032"/>
            <a:ext cx="5349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2542032"/>
            <a:ext cx="82296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804672" y="26883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— Inspect logs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04672" y="3072384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n8n execution logs for failed / slow nodes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error messages and per-node execution times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where latency or inconsistency is introduced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63640" y="2542032"/>
            <a:ext cx="5349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63640" y="2542032"/>
            <a:ext cx="82296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6519672" y="26883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— API monitoring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519672" y="3072384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LLM/API latency, rate limits, and error codes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token usage and quota throttling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vector-store and network response times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4224528"/>
            <a:ext cx="5349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8640" y="4224528"/>
            <a:ext cx="82296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/>
          <p:nvPr/>
        </p:nvSpPr>
        <p:spPr>
          <a:xfrm>
            <a:off x="804672" y="43708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— Prompt optimization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804672" y="47548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instructions; lower temperature for consistency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context size to reduce latency and drift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output format constraints to stabilise responses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263640" y="4224528"/>
            <a:ext cx="5349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63640" y="4224528"/>
            <a:ext cx="82296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0"/>
          <p:cNvSpPr/>
          <p:nvPr/>
        </p:nvSpPr>
        <p:spPr>
          <a:xfrm>
            <a:off x="6519672" y="43708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— Workflow testing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519672" y="47548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controlled test queries and compare outputs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and test each node independently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fix, then re-test end-to-end to restore performance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48640" y="594360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E8F1F5"/>
          </a:solidFill>
          <a:ln w="12700">
            <a:solidFill>
              <a:srgbClr val="C5DEE8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6035040"/>
            <a:ext cx="274320" cy="27432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097280" y="59436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n8n execution log / node timings used to diagnose the issue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Customer Support Agent  |  Portfolio Presentation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17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17320"/>
            <a:ext cx="1216152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10896"/>
            <a:ext cx="822960" cy="82296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484632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31089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BDD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Q5  ·  ACTIVITY 5 — SECURE CONFIGURATIONS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554480" y="603504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Managing API Keys &amp; Environment Variables Securely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48640" y="16642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secure software configurations are maintained — how keys are stored, why they must never be exposed in frontend code, and the security practices that keep the system safe.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542032"/>
            <a:ext cx="5349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2542032"/>
            <a:ext cx="82296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804672" y="26883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keys are stored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04672" y="3072384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n8n credentials / environment variables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hard-coded in workflow JSON or source files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Accessed server-side only, scoped to least privilege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63640" y="2542032"/>
            <a:ext cx="5349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63640" y="2542032"/>
            <a:ext cx="82296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6519672" y="26883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Never exposed in frontend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519672" y="3072384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code is visible to anyone in the browser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keys can be stolen and abused (cost/data risk)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API calls proxied through the secure backend (n8n)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4224528"/>
            <a:ext cx="5349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8640" y="4224528"/>
            <a:ext cx="82296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/>
          <p:nvPr/>
        </p:nvSpPr>
        <p:spPr>
          <a:xfrm>
            <a:off x="804672" y="43708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practices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804672" y="47548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secrets manager / .env; keep keys out of git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keys regularly and revoke leaked ones promptly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key permissions and monitor usage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263640" y="4224528"/>
            <a:ext cx="5349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63640" y="4224528"/>
            <a:ext cx="82296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0"/>
          <p:cNvSpPr/>
          <p:nvPr/>
        </p:nvSpPr>
        <p:spPr>
          <a:xfrm>
            <a:off x="6519672" y="43708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 &amp; reliable operation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519672" y="47548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keys per environment (dev / prod)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and access controls for credentials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with data protection requirements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48640" y="594360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E8F1F5"/>
          </a:solidFill>
          <a:ln w="12700">
            <a:solidFill>
              <a:srgbClr val="C5DEE8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6035040"/>
            <a:ext cx="274320" cy="27432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097280" y="59436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n8n Credentials store / environment variable configuration (keys masked)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Customer Support Agent  |  Portfolio Presentation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Customer Support Agent — Portfolio</dc:title>
  <dc:subject>PptxGenJS Presentation</dc:subject>
  <dc:creator>Portfolio Candidate</dc:creator>
  <cp:lastModifiedBy>Portfolio Candidate</cp:lastModifiedBy>
  <cp:revision>1</cp:revision>
  <dcterms:created xsi:type="dcterms:W3CDTF">2026-06-25T13:26:59Z</dcterms:created>
  <dcterms:modified xsi:type="dcterms:W3CDTF">2026-06-25T13:26:59Z</dcterms:modified>
</cp:coreProperties>
</file>